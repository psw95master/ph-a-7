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상단 회사 개요, 중단 거래처 로고 나열, 하단 대표 실적 사진. 로고를 가장 크게 배치합니다.</a:t>
            </a:r>
          </a:p>
          <a:p/>
          <a:p>
            <a:r>
              <a:t>[본문 ② 협력해 온 기업]</a:t>
            </a:r>
          </a:p>
          <a:p>
            <a:r>
              <a:t>보쉬렉스로스 — 유압 분야 세계 1위, 창업 첫해 협력업체 등록</a:t>
            </a:r>
          </a:p>
          <a:p>
            <a:r>
              <a:t>POSCO — 국내 최대 철강사, 3건 납품</a:t>
            </a:r>
          </a:p>
          <a:p>
            <a:r>
              <a:t>대우조선(현 한화오션) — 세계 3대 조선소</a:t>
            </a:r>
          </a:p>
          <a:p>
            <a:r>
              <a:t>롤스로이스 마린 — 선박 기자재, 창업 첫해 협력업체 등록</a:t>
            </a:r>
          </a:p>
          <a:p>
            <a:r>
              <a:t>GM · COSMA · 현대위아 · 현대로템 — 자동차 · 기계</a:t>
            </a:r>
          </a:p>
          <a:p/>
          <a:p>
            <a:r>
              <a:t>[본문 ③ 대표 제작 실적]</a:t>
            </a:r>
          </a:p>
          <a:p>
            <a:r>
              <a:t>초대형 동조제어 실린더 — 댐 수문 개폐</a:t>
            </a:r>
          </a:p>
          <a:p>
            <a:r>
              <a:t>밸런스 실린더 — 2,300톤 블랭킹 프레스</a:t>
            </a:r>
          </a:p>
          <a:p>
            <a:r>
              <a:t>스크랩 시어 — 1,600톤 대형 산업설비</a:t>
            </a:r>
          </a:p>
          <a:p/>
          <a:p>
            <a:r>
              <a:t>[본문 ④ 자격]</a:t>
            </a:r>
          </a:p>
          <a:p>
            <a:r>
              <a:t>ISO 9001 · 14001 — 2005년 취득, 20년 유지</a:t>
            </a:r>
          </a:p>
          <a:p/>
          <a:p>
            <a:r>
              <a:t>[발표 멘트]</a:t>
            </a:r>
          </a:p>
          <a:p>
            <a:r>
              <a:t>먼저 회사 이야기부터 간단히 정리하고 시작하겠습니다.</a:t>
            </a:r>
          </a:p>
          <a:p/>
          <a:p>
            <a:r>
              <a:t>특수 유압실린더는 대량생산이 되지 않는 물건입니다. 제철소 설비에 들어가는 실린더는 그 설비에만 맞는 규격이라, 발주처가 그것 때문에 생산 라인을 세울 수 없습니다. 세계 1위 유압 회사도 단품 하나 때문에 라인을 멈추지 않습니다.</a:t>
            </a:r>
          </a:p>
          <a:p/>
          <a:p>
            <a:r>
              <a:t>그래서 이런 물량은 도면을 받아 하나씩 만드는 공장으로 갑니다. 나우하이텍이 그 자리에 있습니다.</a:t>
            </a:r>
          </a:p>
          <a:p/>
          <a:p>
            <a:r>
              <a:t>창업하신 그해에 보쉬렉스로스와 롤스로이스 협력업체로 등록되셨습니다. 이후 POSCO 세 건, 대우조선, GM.</a:t>
            </a:r>
          </a:p>
          <a:p/>
          <a:p>
            <a:r>
              <a:t>이 자리는 아무나 들어가지 못합니다. 대형 선반과 크레인이 있어야 하고, 선급 승인이 있어야 하고, 무엇보다 납품해 본 이력이 있어야 합니다.</a:t>
            </a:r>
          </a:p>
          <a:p/>
          <a:p>
            <a:r>
              <a:t>24년간 쌓으신 자산입니다. 오늘 드릴 말씀은 전부 이 자산에 관한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상단은 세 가지 질문, 하단은 두 갈래 흐름도. 「검색해 확인한다」 단계에 강조 표시.</a:t>
            </a:r>
          </a:p>
          <a:p/>
          <a:p>
            <a:r>
              <a:t>[보조 문장]</a:t>
            </a:r>
          </a:p>
          <a:p>
            <a:r>
              <a:t>소개와 공고는 여전히 유효합니다. 다만 그 다음에 확인 단계가 하나 생겼습니다. 그리고 이 판단은 회사가 하는 것이 아니라 보는 사람이 합니다.</a:t>
            </a:r>
          </a:p>
          <a:p/>
          <a:p>
            <a:r>
              <a:t>[발표 멘트]</a:t>
            </a:r>
          </a:p>
          <a:p>
            <a:r>
              <a:t>웹사이트를 흔히 광고로 생각하십니다. 그런데 실제로 하는 일은 다릅니다.</a:t>
            </a:r>
          </a:p>
          <a:p/>
          <a:p>
            <a:r>
              <a:t>새 손님을 만들어내지는 못합니다. 대신 회사의 신뢰가 여기서 결정됩니다.</a:t>
            </a:r>
          </a:p>
          <a:p/>
          <a:p>
            <a:r>
              <a:t>실제로 있는 회사인지, 무엇을 만드는지, 물어보면 답이 오는지. 사람들은 이 세 가지를 확인합니다.</a:t>
            </a:r>
          </a:p>
          <a:p/>
          <a:p>
            <a:r>
              <a:t>예전에는 소개로 끝났습니다. 지금은 소개를 받아도 한 번 검색해 봅니다. 담당자 세대가 바뀌었기 때문입니다. 확인이 습관이 된 세대입니다.</a:t>
            </a:r>
          </a:p>
          <a:p/>
          <a:p>
            <a:r>
              <a:t>이 확인 단계에서 무엇이 나오느냐가 중요해졌습니다.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상단은 ①→④ 가로 흐름도, ③단계에 강조 표시. 하단은 76.3%와 8.7%를 크게 대비.</a:t>
            </a:r>
          </a:p>
          <a:p/>
          <a:p>
            <a:r>
              <a:t>[발표 멘트]</a:t>
            </a:r>
          </a:p>
          <a:p>
            <a:r>
              <a:t>구직자가 지원하기까지 순서를 한번 따라가 보겠습니다.</a:t>
            </a:r>
          </a:p>
          <a:p/>
          <a:p>
            <a:r>
              <a:t>먼저 일자리를 알아보기로 마음먹습니다. 그리고 사람인이나 잡코리아 같은 곳에서 공고를 봅니다. 구직자 열 명 중 여덟 명이 그렇게 합니다.</a:t>
            </a:r>
          </a:p>
          <a:p/>
          <a:p>
            <a:r>
              <a:t>그런데 공고에는 급여와 근무지 정도가 적혀 있습니다. 이 회사가 어떤 회사인지는 안 나옵니다.</a:t>
            </a:r>
          </a:p>
          <a:p/>
          <a:p>
            <a:r>
              <a:t>그래서 회사 이름을 검색해 봅니다. 지원할 만한 회사인지, 안정적으로 돌아가는 회사인지 확인하려는 겁니다.</a:t>
            </a:r>
          </a:p>
          <a:p/>
          <a:p>
            <a:r>
              <a:t>포털 정보에 만족한다는 사람이 열 명 중 한 명이 안 됩니다. 나머지는 전부 이 단계를 거칩니다.</a:t>
            </a:r>
          </a:p>
          <a:p/>
          <a:p>
            <a:r>
              <a:t>지원할지 말지가 바로 이 자리에서 갈립니다.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4개 항목을 번호와 함께 세로 나열. 뒤 슬라이드에서 하나씩 펼친다는 신호를 줍니다.</a:t>
            </a:r>
          </a:p>
          <a:p/>
          <a:p>
            <a:r>
              <a:t>[발표 멘트]</a:t>
            </a:r>
          </a:p>
          <a:p>
            <a:r>
              <a:t>느낌으로 말씀드리지 않겠습니다. 하나씩 직접 확인했습니다.</a:t>
            </a:r>
          </a:p>
          <a:p/>
          <a:p>
            <a:r>
              <a:t>보안, 휴대폰, 검색, 관리. 네 가지를 봤습니다. 그리고 네 가지 모두에서 문제가 나왔습니다.</a:t>
            </a:r>
          </a:p>
          <a:p/>
          <a:p>
            <a:r>
              <a:t>같은 항목을 동종 업체 일곱 곳에서도 똑같이 재봤습니다. 그 비교는 뒤에서 보여드리겠습니다.</a:t>
            </a:r>
          </a:p>
          <a:p/>
          <a:p>
            <a:r>
              <a:t>지금부터 하나씩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실제 경고 화면 캡처 1장을 화면 절반 이상으로 크게 배치합니다.</a:t>
            </a:r>
          </a:p>
          <a:p>
            <a:r>
              <a:t>이미지 — ESL-C-10_assets/보안경고화면_260805.png</a:t>
            </a:r>
          </a:p>
          <a:p/>
          <a:p>
            <a:r>
              <a:t>[보조 문장]</a:t>
            </a:r>
          </a:p>
          <a:p>
            <a:r>
              <a:t>경고가 뜨는 이유가 두 가지입니다. 만료된 것이 하나이고, 애초에 나우하이텍 주소용 인증서가 아닌 것이 하나입니다. 브라우저가 표시하는 오류 코드도 만료가 아니라 명의 불일치를 가리킵니다.</a:t>
            </a:r>
          </a:p>
          <a:p/>
          <a:p>
            <a:r>
              <a:t>[발표 멘트]</a:t>
            </a:r>
          </a:p>
          <a:p>
            <a:r>
              <a:t>가장 먼저 나온 결과입니다. 회사 주소를 입력하면 화면이 열리지 않고 경고가 뜹니다.</a:t>
            </a:r>
          </a:p>
          <a:p/>
          <a:p>
            <a:r>
              <a:t>인증서가 제기코리아라는 다른 회사 이름으로 되어 있고, 그마저 3년 전에 만료됐습니다.</a:t>
            </a:r>
          </a:p>
          <a:p/>
          <a:p>
            <a:r>
              <a:t>명함이나 카탈로그를 보고 들어오는 분도 같은 화면을 봅니다.</a:t>
            </a:r>
          </a:p>
          <a:p/>
          <a:p>
            <a:r>
              <a:t>같은 업종 일곱 곳을 봤더니 네 곳은 정상이었습니다. 나머지 세 곳도 인증서 문제는 있었는데, 경고를 넘기면 사이트는 열립니다. 나우하이텍만 넘겨도 안 열립니다.</a:t>
            </a:r>
          </a:p>
          <a:p/>
          <a:p>
            <a:r>
              <a:t>지금 휴대폰으로 한번 열어보시겠습니까.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숫자 「0자」를 화면 중앙에 크게 배치. 하단에 휴대폰 화면 캡처.</a:t>
            </a:r>
          </a:p>
          <a:p>
            <a:r>
              <a:t>이미지 — 실제 단말 촬영분 (확보 예정)</a:t>
            </a:r>
          </a:p>
          <a:p/>
          <a:p>
            <a:r>
              <a:t>[발표 멘트]</a:t>
            </a:r>
          </a:p>
          <a:p>
            <a:r>
              <a:t>두 번째입니다. 휴대폰에서 열면 글씨가 아주 작게 나옵니다. 확대해가며 봐야 합니다.</a:t>
            </a:r>
          </a:p>
          <a:p/>
          <a:p>
            <a:r>
              <a:t>세 번째입니다. 네이버나 구글이 회사 홈페이지에서 읽어가는 글자가 57자입니다.</a:t>
            </a:r>
          </a:p>
          <a:p/>
          <a:p>
            <a:r>
              <a:t>그 57자가 2010년과 2006년 공지 두 줄입니다. 회사에 대한 설명은 한 글자도 없습니다.</a:t>
            </a:r>
          </a:p>
          <a:p/>
          <a:p>
            <a:r>
              <a:t>회사 정보가 전부 그림으로 되어 있어서 그렇습니다. 사람 눈에는 보이는데 검색엔진 눈에는 안 보입니다.</a:t>
            </a:r>
          </a:p>
          <a:p/>
          <a:p>
            <a:r>
              <a:t>그림에 설명을 달아두는 방법이 있는데, 14개 전부 비어 있습니다.</a:t>
            </a:r>
          </a:p>
          <a:p/>
          <a:p>
            <a:r>
              <a:t>주소와 전화번호도 그림이라 복사가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스팸 게시물이 최상단에 있는 게시판 화면 캡처. 날짜 부분에 강조 표시.</a:t>
            </a:r>
          </a:p>
          <a:p/>
          <a:p>
            <a:r>
              <a:t>[발표 멘트]</a:t>
            </a:r>
          </a:p>
          <a:p>
            <a:r>
              <a:t>네 번째입니다. 마지막 공지가 16년 전입니다.</a:t>
            </a:r>
          </a:p>
          <a:p/>
          <a:p>
            <a:r>
              <a:t>그리고 문의 게시판 맨 위에 종교 홍보 글이 1년 넘게 그대로 있습니다.</a:t>
            </a:r>
          </a:p>
          <a:p/>
          <a:p>
            <a:r>
              <a:t>한 가지 더 있습니다. 홈페이지가 불러오는 화면 조각이 두 개인데, 그중 하나가 지금 없어진 파일입니다. 화면에는 티가 안 나지만 계속 오류가 나고 있습니다.</a:t>
            </a:r>
          </a:p>
          <a:p/>
          <a:p>
            <a:r>
              <a:t>문의 창구도 봤습니다. 같은 업종 일곱 곳 중 여섯 곳이 홈페이지에서 바로 문의를 넣을 수 있게 해뒀습니다. 나우하이텍은 로그인해야 글을 쓸 수 있는 게시판 하나가 전부이고, 그마저 14년째 답이 없습니다.</a:t>
            </a:r>
          </a:p>
          <a:p/>
          <a:p>
            <a:r>
              <a:t>낡은 것과 방치된 것은 다르게 읽힙니다.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상단은 좌우 2단 대비, 오른쪽 항목 전부에 실패 표시. 하단은 동종업계 비교 3줄.</a:t>
            </a:r>
          </a:p>
          <a:p/>
          <a:p>
            <a:r>
              <a:t>[보조 문장]</a:t>
            </a:r>
          </a:p>
          <a:p>
            <a:r>
              <a:t>부분 수리로는 해결되지 않습니다. 보안 · 휴대폰 · 검색 · 관리가 서로 얽힌 구조 문제이기 때문입니다.</a:t>
            </a:r>
          </a:p>
          <a:p/>
          <a:p>
            <a:r>
              <a:t>[발표 멘트]</a:t>
            </a:r>
          </a:p>
          <a:p>
            <a:r>
              <a:t>앞서 말씀드린 확인 단계입니다. 구직자가 회사를 확인하러 오는 그 자리에서, 지금은 이런 것들을 보게 됩니다.</a:t>
            </a:r>
          </a:p>
          <a:p/>
          <a:p>
            <a:r>
              <a:t>같은 업종 일곱 곳과 나란히 놓으면 이렇습니다. 세 항목 모두 아래쪽입니다.</a:t>
            </a:r>
          </a:p>
          <a:p/>
          <a:p>
            <a:r>
              <a:t>이 중 하나만 고쳐서는 달라지지 않습니다. 서로 물려 있는 문제입니다.</a:t>
            </a:r>
          </a:p>
          <a:p/>
          <a:p>
            <a:r>
              <a:t>그래서 전부 새로 만드는 쪽을 말씀드리는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본문 ②를 화면 중앙에 가장 크게 배치합니다. 실재 · 실력 · 태도 세 줄이 S3의 세 가지 질문과 같은 순서·같은 표기여야 합니다. 본문 ①은 상단에 작게, ③은 하단에 작게, ④는 별도 박스로 분리합니다.</a:t>
            </a:r>
          </a:p>
          <a:p/>
          <a:p>
            <a:r>
              <a:t>[세 가지 원칙 상세]</a:t>
            </a:r>
          </a:p>
          <a:p>
            <a:r>
              <a:t>① 그림을 글자로 — 회사 정보 · 납품 실적 · 설비 · 인증을 글자로 게재</a:t>
            </a:r>
          </a:p>
          <a:p>
            <a:r>
              <a:t>② 휴대폰 기준으로 제작 — 휴대폰 화면을 기준으로 만들고 PC를 맞춤</a:t>
            </a:r>
          </a:p>
          <a:p>
            <a:r>
              <a:t>③ 회사가 직접 고칠 수 있게 — 공지 · 채용 공고 · 실적을 담당자가 직접 등록 · 수정</a:t>
            </a:r>
          </a:p>
          <a:p/>
          <a:p>
            <a:r>
              <a:t>[본문 ③ 그 외에 따라오는 것]</a:t>
            </a:r>
          </a:p>
          <a:p>
            <a:r>
              <a:t>영업 — 제품 · 기술 검색으로 들어오는 경로 신설</a:t>
            </a:r>
          </a:p>
          <a:p>
            <a:r>
              <a:t>영업 — 거래처가 회사 정보를 복사해 서류에 사용 가능</a:t>
            </a:r>
          </a:p>
          <a:p>
            <a:r>
              <a:t>영업 — 공공기관 입찰 시 접근성 감점 요인 해소</a:t>
            </a:r>
          </a:p>
          <a:p>
            <a:r>
              <a:t>운영 — 문의 수신 경로 확정 · 스팸 재발 방지</a:t>
            </a:r>
          </a:p>
          <a:p>
            <a:r>
              <a:t>운영 — 방문자 분석 도구 설치, 측정 기준선 확보</a:t>
            </a:r>
          </a:p>
          <a:p/>
          <a:p>
            <a:r>
              <a:t>[본문 ④ 웹사이트가 할 수 없는 것]</a:t>
            </a:r>
          </a:p>
          <a:p>
            <a:r>
              <a:t>급여 수준, 근무 조건, 통근 거리를 바꾸지 못합니다.</a:t>
            </a:r>
          </a:p>
          <a:p>
            <a:r>
              <a:t>지원자를 새로 만들어내지 못합니다.</a:t>
            </a:r>
          </a:p>
          <a:p/>
          <a:p>
            <a:r>
              <a:t>[발표 멘트]</a:t>
            </a:r>
          </a:p>
          <a:p>
            <a:r>
              <a:t>앞에서 사람들이 회사를 확인할 때 세 가지를 본다고 말씀드렸습니다. 실제로 있는 회사인지, 무엇을 만드는지, 물어보면 답이 오는지.</a:t>
            </a:r>
          </a:p>
          <a:p/>
          <a:p>
            <a:r>
              <a:t>지금은 그 세 가지 모두에 답을 못 하고 있습니다. 리뉴얼 후에는 답할 수 있게 됩니다.</a:t>
            </a:r>
          </a:p>
          <a:p/>
          <a:p>
            <a:r>
              <a:t>바꾸는 방식은 세 가지입니다. 그림을 글자로 바꾸고, 휴대폰을 기준으로 만들고, 회사가 직접 고칠 수 있게 합니다.</a:t>
            </a:r>
          </a:p>
          <a:p/>
          <a:p>
            <a:r>
              <a:t>세 번째를 특히 말씀드리고 싶습니다. 지금 홈페이지가 16년간 멈춰 있던 이유는 관심이 없어서가 아니라, 고치려면 외부 업체에 요청해야 하는 구조였기 때문입니다. 담당자가 직접 올릴 수 있게 만들지 않으면, 새로 만들어도 몇 년 뒤에 같은 자리로 돌아옵니다.</a:t>
            </a:r>
          </a:p>
          <a:p/>
          <a:p>
            <a:r>
              <a:t>한 가지 분명히 말씀드리겠습니다. 홈페이지를 바꾼다고 지원자가 갑자기 몰려오지는 않습니다. 급여나 통근 거리를 바꾸지도 못합니다.</a:t>
            </a:r>
          </a:p>
          <a:p/>
          <a:p>
            <a:r>
              <a:t>다만 신뢰가 회복되면 확인하러 온 사람이 돌아서지 않습니다. 지금은 그 자리에서 놓치고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전체 화면 한 문장을 중앙에 크게. 본문 표는 하단에 작게 배치합니다.</a:t>
            </a:r>
          </a:p>
          <a:p/>
          <a:p>
            <a:r>
              <a:t>[발표 멘트]</a:t>
            </a:r>
          </a:p>
          <a:p>
            <a:r>
              <a:t>정리하겠습니다.</a:t>
            </a:r>
          </a:p>
          <a:p/>
          <a:p>
            <a:r>
              <a:t>없는 것을 새로 만들자는 이야기가 아닙니다. 이미 갖고 계신 것을 밖에서 보이게 하자는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본문 ①을 3단 세로 비교표로 화면 상단 절반에 크게 배치합니다. 세 안의 이름을 같은 크기로 두어 어느 하나가 기본안으로 보이지 않게 합니다. 본문 ②는 하단 좌측, ③④는 하단 우측에 작게 배치합니다.</a:t>
            </a:r>
          </a:p>
          <a:p/>
          <a:p>
            <a:r>
              <a:t>[본문 ② 두 대상은 판단 방식이 다릅니다]</a:t>
            </a:r>
          </a:p>
          <a:p>
            <a:r>
              <a:t>거래처 — 확인하는 것: 실재하는가 · 실적이 있는가 / 판단 방식: 정보를 읽고 판단 / 1안으로 충분</a:t>
            </a:r>
          </a:p>
          <a:p>
            <a:r>
              <a:t>구직자 — 확인하는 것: 다닐 만한 회사인가 / 판단 방식: 첫인상으로 판단 / 1안으로는 부족</a:t>
            </a:r>
          </a:p>
          <a:p/>
          <a:p>
            <a:r>
              <a:t>[본문 ③ 각 방향의 유의점]</a:t>
            </a:r>
          </a:p>
          <a:p>
            <a:r>
              <a:t>1안 — 검색과 휴대폰 문제는 해결되지만 화면은 어제와 같아 보입니다. 내부에서 변화를 체감하기 어렵습니다.</a:t>
            </a:r>
          </a:p>
          <a:p>
            <a:r>
              <a:t>2안 — 제작 기간이 길어집니다. 사진 촬영을 함께 진행하면 일정이 더 늘어납니다.</a:t>
            </a:r>
          </a:p>
          <a:p>
            <a:r>
              <a:t>3안 — 1차 오픈 후 3개월 성과를 확인하고 2차를 결정합니다. 2차 시점에 예산을 다시 편성해야 합니다.</a:t>
            </a:r>
          </a:p>
          <a:p/>
          <a:p>
            <a:r>
              <a:t>[본문 ④ 방향과 무관하게 공통으로 필요한 것]</a:t>
            </a:r>
          </a:p>
          <a:p>
            <a:r>
              <a:t>콘텐츠 작성 — 설비명 · 규격 · 납품실적 목록 · 인증 정보 · 연혁 정리</a:t>
            </a:r>
          </a:p>
          <a:p>
            <a:r>
              <a:t>사진 촬영 — 선택 항목. 기존 설비 사진 13장 활용도 가능</a:t>
            </a:r>
          </a:p>
          <a:p/>
          <a:p>
            <a:r>
              <a:t>[발표 멘트]</a:t>
            </a:r>
          </a:p>
          <a:p>
            <a:r>
              <a:t>방향은 세 가지로 정리했습니다.</a:t>
            </a:r>
          </a:p>
          <a:p/>
          <a:p>
            <a:r>
              <a:t>먼저 공통점부터 말씀드리겠습니다. 세 방향 모두 속은 전부 새로 만듭니다. 지금 사이트가 부분 수리로는 휴대폰 대응이 안 되는 구조이기 때문입니다. 이건 선택 사항이 아닙니다.</a:t>
            </a:r>
          </a:p>
          <a:p/>
          <a:p>
            <a:r>
              <a:t>차이는 화면을 새로 만드느냐입니다.</a:t>
            </a:r>
          </a:p>
          <a:p/>
          <a:p>
            <a:r>
              <a:t>1안은 지금 화면을 그대로 두고 속만 바꿉니다. 검색도 되고 휴대폰에서도 열립니다. 다만 열어보시면 어제와 똑같아 보입니다. 이 점은 미리 말씀드립니다.</a:t>
            </a:r>
          </a:p>
          <a:p/>
          <a:p>
            <a:r>
              <a:t>2안은 화면까지 새로 만듭니다. 대신 기간과 비용이 늘어납니다.</a:t>
            </a:r>
          </a:p>
          <a:p/>
          <a:p>
            <a:r>
              <a:t>3안은 1안을 먼저 하고, 3개월 뒤 결과를 보고 화면 개편을 정하는 방식입니다.</a:t>
            </a:r>
          </a:p>
          <a:p/>
          <a:p>
            <a:r>
              <a:t>한 가지 참고하실 것이 있습니다. 거래처는 화면이 낡아도 정보만 정확하면 넘어갑니다. 그런데 구직자는 다릅니다. 화면을 열자마자 몇 초 안에 판단합니다.</a:t>
            </a:r>
          </a:p>
          <a:p/>
          <a:p>
            <a:r>
              <a:t>이번 목적이 채용이라면 그 차이를 함께 보셔야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메인 1안과 2안을 나란히 배치해 한 화면에서 비교되게 합니다. 하단에 현행 화면을 작게 넣어 기준점을 만듭니다.</a:t>
            </a:r>
          </a:p>
          <a:p/>
          <a:p>
            <a:r>
              <a:t>[삽입할 이미지]</a:t>
            </a:r>
          </a:p>
          <a:p>
            <a:r>
              <a:t>shots/1an-pc.jpg · shots/2an-pc.jpg · shots/1an-mobile.jpg · shots/2an-mobile.jpg</a:t>
            </a:r>
          </a:p>
          <a:p>
            <a:r>
              <a:t>현행_메인화면_PC_260805.jpg (기준점)</a:t>
            </a:r>
          </a:p>
          <a:p/>
          <a:p>
            <a:r>
              <a:t>[발표에서 쓰는 법]</a:t>
            </a:r>
          </a:p>
          <a:p>
            <a:r>
              <a:t>브라우저에서 연 뒤 창 가로 폭을 손으로 좁혀 보이십시오. 화면이 따라 줄어듭니다. 현행 사이트는 창을 아무리 좁혀도 줄지 않습니다. 말로 설명할 필요가 없어집니다.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업체별 현황표를 크게. 나우하이텍 행을 맨 아래 강조 표시.</a:t>
            </a:r>
          </a:p>
          <a:p/>
          <a:p>
            <a:r>
              <a:t>[본문 ① 항목별 집계]</a:t>
            </a:r>
          </a:p>
          <a:p>
            <a:r>
              <a:t>보안 접속 정상 — 동종 4 / 7, 나우하이텍 없음</a:t>
            </a:r>
          </a:p>
          <a:p>
            <a:r>
              <a:t>휴대폰 대응 — 동종 4 / 7, 나우하이텍 없음</a:t>
            </a:r>
          </a:p>
          <a:p>
            <a:r>
              <a:t>온라인 문의 창구 — 동종 6 / 7, 나우하이텍 없음</a:t>
            </a:r>
          </a:p>
          <a:p/>
          <a:p>
            <a:r>
              <a:t>[보조 문장 ②]</a:t>
            </a:r>
          </a:p>
          <a:p>
            <a:r>
              <a:t>업계 상단은 웹사이트 외에 블로그 · 인스타그램 · 유튜브 · 카카오채널까지 함께 운영합니다. 같은 업종 안에서 한쪽은 채널이 다섯 개, 한쪽은 접속조차 되지 않습니다.</a:t>
            </a:r>
          </a:p>
          <a:p/>
          <a:p>
            <a:r>
              <a:t>[발표 시 참고]</a:t>
            </a:r>
          </a:p>
          <a:p>
            <a:r>
              <a:t>이 장은 대표님을 설득하는 장이 아니라 안심시키는 장입니다. 「업계가 다 잘하는데 우리만 못한다」가 아니라 「업계도 절반은 부족한데, 그 절반조차 갖춘 것을 우리는 못 갖췄다」로 말합니다.</a:t>
            </a:r>
          </a:p>
          <a:p/>
          <a:p>
            <a:r>
              <a:t>[발표 멘트]</a:t>
            </a:r>
          </a:p>
          <a:p>
            <a:r>
              <a:t>같은 업종 일곱 곳을 같은 기준으로 재봤습니다.</a:t>
            </a:r>
          </a:p>
          <a:p/>
          <a:p>
            <a:r>
              <a:t>업계 전체가 잘하고 있는 것은 아닙니다. 일곱 곳 중 세 곳은 나우하이텍과 마찬가지로 인증서와 휴대폰 대응에 문제가 있었습니다.</a:t>
            </a:r>
          </a:p>
          <a:p/>
          <a:p>
            <a:r>
              <a:t>다만 문의 창구는 그 세 곳도 갖추고 있었습니다. 여섯 곳이 홈페이지에서 바로 문의를 받고 있습니다.</a:t>
            </a:r>
          </a:p>
          <a:p/>
          <a:p>
            <a:r>
              <a:t>세 항목이 전부 비어 있는 곳은 나우하이텍뿐입니다.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[화면 요소]</a:t>
            </a:r>
          </a:p>
          <a:p>
            <a:r>
              <a:t>방향별 견적을 상단에 가장 크게, 범위와 대금을 중단, 성과 측정을 하단에 배치합니다.</a:t>
            </a:r>
          </a:p>
          <a:p/>
          <a:p>
            <a:r>
              <a:t>[본문 ③ 대금]</a:t>
            </a:r>
          </a:p>
          <a:p>
            <a:r>
              <a:t>지급 조건 — 착수금 · 잔금 비율 및 시점</a:t>
            </a:r>
          </a:p>
          <a:p/>
          <a:p>
            <a:r>
              <a:t>[본문 ④ 성과 측정]</a:t>
            </a:r>
          </a:p>
          <a:p>
            <a:r>
              <a:t>측정 시점 — 오픈 후 3개월 · 6개월</a:t>
            </a:r>
          </a:p>
          <a:p>
            <a:r>
              <a:t>측정 항목 — 회사명 검색 유입 · 휴대폰 접속 비율 · 온라인 문의 건수</a:t>
            </a:r>
          </a:p>
          <a:p>
            <a:r>
              <a:t>전제 — 현행 사이트에 분석 도구가 없어 이전 수치와의 비교는 불가. 기준선은 오픈 직후부터 형성됨</a:t>
            </a:r>
          </a:p>
          <a:p/>
          <a:p>
            <a:r>
              <a:t>[필요 작업]</a:t>
            </a:r>
          </a:p>
          <a:p>
            <a:r>
              <a:t>금액 · 일정 확정 후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KR"/>
              </a:rPr>
              <a:t>나우하이텍 웹사이트 리뉴얼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AA593"/>
                </a:solidFill>
                <a:latin typeface="Noto Sans KR"/>
              </a:rPr>
              <a:t>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1. about 나우하이텍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S2. 어떤 회사인가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특수 유압실린더 기술로,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각 분야 정상급 기업과 협력해 온 회사입니다.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회사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553135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270"/>
                <a:gridCol w="442508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설립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2002년 10월 — 24년차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소재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부산광역시 강서구 화전산단 (2009년 자가 공장 신축)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규모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대지 500평 · 공장 300평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기술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특수 유압실린더 단품 제작 — 도면에 맞춰 하나씩 만드는 방식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대량생산이 되지 않는 물건을 만드는 기술입니다.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설비, 자격, 납품 이력 세 가지를 모두 갖춘 곳만 들어갈 수 있는 자리입니다.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74522" y="2359152"/>
          <a:ext cx="483993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971"/>
                <a:gridCol w="281596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보쉬렉스로스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유압 분야 세계 1위 · 창업 첫해 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POSCO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국내 최대 철강사 · 3건 납품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대우조선(현 한화오션)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세계 3대 조선소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롤스로이스 마린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선박 기자재 · 창업 첫해 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GM · COSMA · 현대위아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자동차 · 기계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74522" y="2084831"/>
            <a:ext cx="48399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협력해 온 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55313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대표 제작 실적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4498848"/>
          <a:ext cx="55313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556"/>
                <a:gridCol w="2433794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초대형 동조제어 실린더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댐 수문 개폐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밸런스 실린더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2,300톤 블랭킹 프레스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스크랩 시어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1,600톤 대형 산업설비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74522" y="4224528"/>
            <a:ext cx="48399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자격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ISO 9001 · 14001 — 2005년 취득, 20년 유지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2. 웹사이트란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S3. 웹사이트의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웹사이트는 광고가 아닙니다.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회사의 신뢰를 확인받는 자리입니다.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상대가 확인하는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548"/>
                <a:gridCol w="8219666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확인받는 것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상대가 던지는 질문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실재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지금도 운영되고 있는 회사인가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실력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무엇을 만들고, 어디에 납품해 왔는가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태도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문의하면 답이 오는 회사인가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811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그 확인은 만나기 전에 이루어집니다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155439"/>
          <a:ext cx="10637214" cy="66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99"/>
                <a:gridCol w="9025515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거래처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소개를 받는다  →  회사명을 검색해 확인한다  →  연락한다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구직자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채용 공고를 본다  →  회사명을 검색해 확인한다  →  지원한다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거래처도 구직자도 같은 것을 확인합니다. 「이 회사를 믿어도 되는가.」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2. 웹사이트란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S4. 특히 채용에서 결정적입니다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구직자는 회사를 확인한 다음에 지원 여부를 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구직자가 지원까지 가는 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812"/>
                <a:gridCol w="4624876"/>
                <a:gridCol w="5241526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구직자의 행동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이때 하는 생각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이직 또는 취업을 결심한다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「어디에 지원할까」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채용 포털에서 공고를 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「조건은 알겠는데, 어떤 회사지」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③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회사 홈페이지에서 확인한다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「여기 안정적인 회사 맞나」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④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지원한다 / 지원하지 않는다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113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③단계가 필요한 이유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485639"/>
          <a:ext cx="10637214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495"/>
                <a:gridCol w="6862719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채용 포털을 이용하는 비율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76.3%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그 정보에 만족하는 비율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8.7%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구직자가 못 찾겠다고 답한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회사 분위기 38.9% · 업무 내용 34.9% · 급여 34.7%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공고는 조건을 알려줍니다. 회사가 어떤 곳인지는 알려주지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그래서 구직자는 홈페이지로 옵니다. 지원 여부는 여기서 갈립니다.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출처  중소기업중앙회 「중소기업 취업 관련 청년층 인식조사」 (청년구직자 700명)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3. 나우하이텍 웹사이트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S5. 진단 리포트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네 가지 항목을 측정했고, 네 가지 모두에서 문제가 확인되었습니다.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8483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68"/>
                <a:gridCol w="3788597"/>
                <a:gridCol w="5245749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확인한 것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① 보안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접속이 정상적으로 되는가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다른 회사 명의 인증서 → 경고 화면 표시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② 휴대폰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휴대폰 화면에 맞게 표시되는가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대응 없음 — 화면이 줄지 않음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③ 검색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검색엔진이 회사 정보를 읽는가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읽는 정보 57자 — 회사 정보는 0자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④ 관리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지금도 관리되고 있는가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최종 갱신 2010년, 스팸 1년 이상 방치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93699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조사 개요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4211319"/>
          <a:ext cx="10637214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461"/>
                <a:gridCol w="9199753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대상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nawoohitech.co.kr · 동종 유압실린더 업체 7개사 비교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조사일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2026년 8월 1 ~ 5일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브라우저 실측 · 페이지 소스 분석 · 인증서 직접 조회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디자인이 낡았다는 이야기가 아닙니다. 네 가지 모두 측정값으로 확인된 사실입니다.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3. 나우하이텍 웹사이트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S6. 접속하면 경고 화면이 뜹니다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다른 회사 명의의 인증서가 걸려 있고,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그마저 2023년에 만료되었습니다.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인증서 확인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6595072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104"/>
                <a:gridCol w="5395968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인증서 명의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jegikorea.com — 나우하이텍과 무관한 회사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적용 대상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jegikorea.com · www.jegikorea.com — 나우하이텍 주소가 아예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만료일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2023년 10월 17일 (2년 9개월 경과)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접속 결과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회사 화면 대신 「연결이 비공개로 설정되어 있지 않습니다」 경고 표시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811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동종 업체와 비교하면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155439"/>
          <a:ext cx="659507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459"/>
                <a:gridCol w="3768613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동종 7개사 중 보안 접속 정상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4개사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인증서 오류가 있는 3개사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경고를 넘기면 사이트는 열림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나우하이텍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경고를 넘겨도 열리지 않음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낡은 디자인은 「투자를 안 했구나」로 끝납니다. 보안 경고는 「위험한 회사」가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2026년 8월 5일 인증서 직접 조회. 발급 2022년 9월 16일, 발급기관 Sectigo.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3. 나우하이텍 웹사이트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S7. 휴대폰에서 보이지 않고, 검색에도 걸리지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검색엔진이 읽어가는 회사 정보가 0자입니다.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측정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741"/>
                <a:gridCol w="8182473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휴대폰 대응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없음 — 화면을 줄여도 PC 크기 그대로 표시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검색되는 글자 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57자 — 2010년 · 2006년 공지 두 줄이 전부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회사 정보 텍스트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0자 — 회사소개 · 사업분야 · 설비 · 인증 · 연락처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이미지 개수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14개 — 화면의 나머지 전부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이미지 설명 텍스트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0개 — 검색엔진이 그림 내용을 알 수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11319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동종 7개사 중 4개사는 휴대폰 화면에 대응합니다. 대응하지 않는 3개사는 보안 인증서에도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문제가 있는 곳과 정확히 일치합니다. 관리가 멈춘 사이트는 모든 항목에서 함께 멈춰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회사소개 · 사업분야 · 설비 · 인증 · 연락처가 전부 그림 파일입니다.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검색엔진은 그림 속 글자를 읽지 못합니다.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2026년 8월 5일 페이지 소스 직접 분석.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3. 나우하이텍 웹사이트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S8. 관리가 멈춰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마지막 공지가 2010년이고, 게시판에 스팸이 1년 넘게 올라와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측정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718"/>
                <a:gridCol w="8058496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공지사항 최종 게시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2010년 8월 26일 (약 16년 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문의 게시판 최종 응답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2012년 12월 7일 (약 14년 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게시판 최신 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2025년 6월 2일 — 종교 홍보 스팸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전화번호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그림 — 휴대폰에서 눌러 걸 수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깨진 페이지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화면 구성 요소 2개 중 1개가 「없는 페이지」로 연결됨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113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문의 창구가 없습니다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85639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동종 7개사 중 6개사가 웹에서 바로 보낼 수 있는 문의 · 견적 창구를 운영하고 있습니다.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나우하이텍의 창구는 로그인이 필요한 게시판 하나이며, 관리자 응답은 14년간 없습니다.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이것은 「낡았다」와 다른 신호입니다.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「이 회사에는 홈페이지를 보는 사람이 없다」로 읽힙니다.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2026년 8월 5일 확인.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3. 나우하이텍 웹사이트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S9. 진단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현재 웹사이트는 회사를 알리는 것이 아니라, 회사 인상을 깎고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구직자 눈에 보이는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398"/>
                <a:gridCol w="7413816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구직자가 하는 행동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지금 보게 되는 것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회사명을 검색한다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회사 정보가 검색되지 않음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휴대폰으로 접속한다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보안 경고 → 화면이 줄지 않음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어떤 회사인지 확인한다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회사 정보 전부 그림 파일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지금도 운영 중인지 확인한다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최종 갱신 2010년, 스팸 방치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113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동종 7개사와 비교하면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485639"/>
          <a:ext cx="6382328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1044"/>
                <a:gridCol w="1760642"/>
                <a:gridCol w="1760642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동종 7개사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나우하이텍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보안 접속 정상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4 / 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휴대폰 대응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4 / 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온라인 문의 창구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6 / 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24년의 실적이 온라인에서는 확인되지 않습니다. 세 항목 모두 동종업계 최하위입니다.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4. 리뉴얼 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S10. 깎이던 신뢰를 되돌립니다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1C2118"/>
                </a:solidFill>
                <a:latin typeface="Noto Sans KR"/>
              </a:rPr>
              <a:t>앞서 확인한 세 가지 질문에, 이번에는 답할 수 있게 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세 가지 원칙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4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4826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① 그림을 글자로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② 휴대폰 기준으로 제작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③ 회사가 직접 고칠 수 있게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0429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신뢰가 회복되는 지점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317239"/>
          <a:ext cx="10637214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989"/>
                <a:gridCol w="3545738"/>
                <a:gridCol w="3818487"/>
              </a:tblGrid>
              <a:tr h="4826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상대가 던지는 질문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지금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리뉴얼 후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실재  지금도 운영되는 회사인가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접속하면 경고 화면
최종 갱신 2010년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정상 접속
지금도 운영 중임이 확인 가능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실력  무엇을 만들고 어디에 납품했나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회사 정보 0자
설비 사진에 이름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사업분야 · 납품실적 · 설비현황을 글자로 확인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태도  문의하면 답이 오는가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로그인 필요한 게시판 하나
14년간 응답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온라인 문의 창구
휴대폰에서 바로 전화 연결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신뢰가 회복되면, 확인하러 온 사람이 돌아서지 않습니다.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지원자를 늘리는 것이 아니라, 오던 지원자를 놓치지 않는 효과입니다.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5.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S11.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이미 있는 것을 보이게 하는 일입니다.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84831"/>
          <a:ext cx="10637214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461"/>
                <a:gridCol w="9199753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회사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특수 유압실린더 기술로 정상급 기업과 협력해 온 24년차 제조사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지금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온라인에서는 보안 경고와 회사 정보 0자짜리 빈 사이트로 확인됨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문제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거래처와 구직자가 회사를 확인하는 단계에서 돌아섬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비교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동종 7개사 대비 보안 · 휴대폰 · 문의창구 세 항목 모두 최하위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제안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그림을 글자로, 휴대폰 기준으로, 직접 고칠 수 있게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효과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신뢰 회복 → 확인 단계에서의 이탈 방지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118"/>
                          </a:solidFill>
                          <a:latin typeface="Noto Sans KR"/>
                        </a:rPr>
                        <a:t>범위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기획 · 설계 · 제작 · 운영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24년간 만들어 오신 것을, 검색해도 확인할 수 있게 하는 일입니다.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6.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S12. 리뉴얼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1C2118"/>
                </a:solidFill>
                <a:latin typeface="Noto Sans KR"/>
              </a:rPr>
              <a:t>세 가지 방향 중에서 정하실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세 방향 모두 속은 전부 새로 만듭니다. 지금 사이트는 화면 폭이 1200px로 고정된 구조라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부분 수정으로는 휴대폰 대응이 되지 않기 때문입니다. 차이는 눈에 보이는 화면을 새로 만드느냐입니다.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761487"/>
          <a:ext cx="1063721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069"/>
                <a:gridCol w="2689870"/>
                <a:gridCol w="2689870"/>
                <a:gridCol w="2934404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6D1A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6D1A"/>
                          </a:solidFill>
                          <a:latin typeface="Noto Sans KR"/>
                        </a:rPr>
                        <a:t>1안 기능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6D1A"/>
                          </a:solidFill>
                          <a:latin typeface="Noto Sans KR"/>
                        </a:rPr>
                        <a:t>2안 전면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6D1A"/>
                          </a:solidFill>
                          <a:latin typeface="Noto Sans KR"/>
                        </a:rPr>
                        <a:t>3안 단계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118"/>
                          </a:solidFill>
                          <a:latin typeface="Noto Sans KR"/>
                        </a:rPr>
                        <a:t>한 줄 설명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보이는 화면은 유지하고
작동 방식을 전부 새로 만듭니다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화면과 작동 방식을
함께 새로 만듭니다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기능을 먼저 개편하고
화면은 성과 확인 후 진행합니다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118"/>
                          </a:solidFill>
                          <a:latin typeface="Noto Sans KR"/>
                        </a:rPr>
                        <a:t>보안 · 휴대폰 · 검색 · 문의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해결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해결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1차에 해결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118"/>
                          </a:solidFill>
                          <a:latin typeface="Noto Sans KR"/>
                        </a:rPr>
                        <a:t>화면 디자인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현행 유지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신규 제작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2차에 진행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118"/>
                          </a:solidFill>
                          <a:latin typeface="Noto Sans KR"/>
                        </a:rPr>
                        <a:t>비용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기준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높음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1차 · 2차 분할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118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짧음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346"/>
                          </a:solidFill>
                          <a:latin typeface="Noto Sans KR"/>
                        </a:rPr>
                        <a:t>1차 짧음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1안은 신뢰 문제를 해결합니다. 2안은 거기에 더해 첫인상까지 바꿉니다.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3안은 1안으로 시작해 2안까지 가는 길입니다.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6.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S13. 리뉴얼 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실제 화면으로 비교합니다.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84831"/>
          <a:ext cx="106372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718"/>
                <a:gridCol w="8058496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화면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A6D1A"/>
                          </a:solidFill>
                          <a:latin typeface="Noto Sans KR"/>
                        </a:rPr>
                        <a:t>구성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메인 — 1안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현행 인상 유지 · 휴대폰 대응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메인 — 2안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신규 디자인 · 휴대폰 대응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납품 실적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그림 / 글자 목록 대비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C2118"/>
                          </a:solidFill>
                          <a:latin typeface="Noto Sans KR"/>
                        </a:rPr>
                        <a:t>설비 현황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346"/>
                          </a:solidFill>
                          <a:latin typeface="Noto Sans KR"/>
                        </a:rPr>
                        <a:t>사진만 / 설비명 · 규격 표기 대비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936999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시안 제작 완료. 브라우저에서 실제로 열어볼 수 있습니다.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4A5346"/>
                </a:solidFill>
                <a:latin typeface="Noto Sans KR"/>
              </a:rPr>
              <a:t>GitHub  psw95master/ESL-A-11-ESL-B-24-ESL-C-12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창 가로 폭을 좁히면 화면이 따라 줄어듭니다. 현행 사이트는 줄지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6.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S14. 동종업체 웹사이트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같은 업종 일곱 곳과 나란히 놓으면, 세 항목 모두 아래쪽입니다.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84831"/>
          <a:ext cx="10637213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124"/>
                <a:gridCol w="1671562"/>
                <a:gridCol w="1671562"/>
                <a:gridCol w="3950965"/>
              </a:tblGrid>
              <a:tr h="2921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업체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보안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휴대폰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문의창구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진양유압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  견적문의 전용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HIMC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태광유압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BB하이드롤릭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ISTC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  견적/발주 전용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태산유압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○  온라인문의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삼익유공압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△  게시판만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나우하이텍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일곱 곳 중 세 곳도 인증서와 휴대폰 대응에 문제가 있습니다.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다만 그 세 곳조차 문의 창구는 갖추고 있습니다. 나우하이텍만 세 항목 전부 비어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2026년 8월 5일 실측. 대상 업체 · URL · 판정 기준은 별도 문서에 기록.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8A9382"/>
                </a:solidFill>
                <a:latin typeface="Noto Sans KR"/>
              </a:rPr>
              <a:t>7. 견적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7665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3A6D1A"/>
                </a:solidFill>
                <a:latin typeface="Noto Sans KR"/>
              </a:rPr>
              <a:t>S15. 견적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700" b="1">
                <a:solidFill>
                  <a:srgbClr val="1C2118"/>
                </a:solidFill>
                <a:latin typeface="Noto Sans KR"/>
              </a:rPr>
              <a:t>작업 범위와 일정입니다.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방향별 견적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59151"/>
          <a:ext cx="106372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869"/>
                <a:gridCol w="2954781"/>
                <a:gridCol w="2954781"/>
                <a:gridCol w="2954781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1안 기능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2안 전면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6D1A"/>
                          </a:solidFill>
                          <a:latin typeface="Noto Sans KR"/>
                        </a:rPr>
                        <a:t>3안 단계 개편</a:t>
                      </a:r>
                    </a:p>
                  </a:txBody>
                  <a:tcPr marL="82296" marR="82296" marT="27432" marB="27432" anchor="ctr">
                    <a:solidFill>
                      <a:srgbClr val="EEF5E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1차 · 2차 분할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118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474719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A6D1A"/>
                </a:solidFill>
                <a:latin typeface="Noto Sans KR"/>
              </a:rPr>
              <a:t>범위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49039"/>
          <a:ext cx="1063721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953"/>
                <a:gridCol w="8912261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공통 범위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기획 · 설계 · 제작 · 콘텐츠 작성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공통 포함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보안 인증서 발급 및 적용 · 관리자 페이지 · 온라인 문의 창구 · 방문자 분석 도구 설치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2안 추가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화면 디자인 신규 제작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선택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사진 촬영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118"/>
                          </a:solidFill>
                          <a:latin typeface="Noto Sans KR"/>
                        </a:rPr>
                        <a:t>별도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346"/>
                          </a:solidFill>
                          <a:latin typeface="Noto Sans KR"/>
                        </a:rPr>
                        <a:t>도메인 및 서버 · 유지관리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559552"/>
            <a:ext cx="10637215" cy="658368"/>
          </a:xfrm>
          <a:prstGeom prst="rect">
            <a:avLst/>
          </a:prstGeom>
          <a:solidFill>
            <a:srgbClr val="EEF5E7"/>
          </a:solidFill>
          <a:ln>
            <a:solidFill>
              <a:srgbClr val="EEF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A6D1A"/>
                </a:solidFill>
                <a:latin typeface="Noto Sans KR"/>
              </a:rPr>
              <a:t>성과 측정 — 오픈 후 3개월 · 6개월. 3안 선택 시 3개월 결과가 2차 진행 기준이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4593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A9382"/>
                </a:solidFill>
                <a:latin typeface="Noto Sans KR"/>
              </a:rPr>
              <a:t>금액 · 일정 확정 후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